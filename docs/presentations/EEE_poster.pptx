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30279975" cy="42806938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6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72"/>
    <a:srgbClr val="313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9" autoAdjust="0"/>
    <p:restoredTop sz="94658"/>
  </p:normalViewPr>
  <p:slideViewPr>
    <p:cSldViewPr snapToGrid="0">
      <p:cViewPr>
        <p:scale>
          <a:sx n="46" d="100"/>
          <a:sy n="46" d="100"/>
        </p:scale>
        <p:origin x="456" y="152"/>
      </p:cViewPr>
      <p:guideLst>
        <p:guide orient="horz" pos="13482"/>
        <p:guide pos="9605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2D6E3-4EC3-406F-9DB6-9B2B5D39293E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FD8AD-1703-4D00-AF5F-8354728D55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208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9FD8AD-1703-4D00-AF5F-8354728D550A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826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98" y="7005676"/>
            <a:ext cx="25737979" cy="14903156"/>
          </a:xfrm>
        </p:spPr>
        <p:txBody>
          <a:bodyPr anchor="b"/>
          <a:lstStyle>
            <a:lvl1pPr algn="ctr">
              <a:defRPr sz="198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997" y="22483555"/>
            <a:ext cx="22709981" cy="10335098"/>
          </a:xfrm>
        </p:spPr>
        <p:txBody>
          <a:bodyPr/>
          <a:lstStyle>
            <a:lvl1pPr marL="0" indent="0" algn="ctr">
              <a:buNone/>
              <a:defRPr sz="7948"/>
            </a:lvl1pPr>
            <a:lvl2pPr marL="1514018" indent="0" algn="ctr">
              <a:buNone/>
              <a:defRPr sz="6623"/>
            </a:lvl2pPr>
            <a:lvl3pPr marL="3028036" indent="0" algn="ctr">
              <a:buNone/>
              <a:defRPr sz="5961"/>
            </a:lvl3pPr>
            <a:lvl4pPr marL="4542053" indent="0" algn="ctr">
              <a:buNone/>
              <a:defRPr sz="5298"/>
            </a:lvl4pPr>
            <a:lvl5pPr marL="6056071" indent="0" algn="ctr">
              <a:buNone/>
              <a:defRPr sz="5298"/>
            </a:lvl5pPr>
            <a:lvl6pPr marL="7570089" indent="0" algn="ctr">
              <a:buNone/>
              <a:defRPr sz="5298"/>
            </a:lvl6pPr>
            <a:lvl7pPr marL="9084107" indent="0" algn="ctr">
              <a:buNone/>
              <a:defRPr sz="5298"/>
            </a:lvl7pPr>
            <a:lvl8pPr marL="10598125" indent="0" algn="ctr">
              <a:buNone/>
              <a:defRPr sz="5298"/>
            </a:lvl8pPr>
            <a:lvl9pPr marL="12112142" indent="0" algn="ctr">
              <a:buNone/>
              <a:defRPr sz="529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287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214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979" y="10672020"/>
            <a:ext cx="26116478" cy="17806494"/>
          </a:xfrm>
        </p:spPr>
        <p:txBody>
          <a:bodyPr anchor="b"/>
          <a:lstStyle>
            <a:lvl1pPr>
              <a:defRPr sz="198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979" y="28646970"/>
            <a:ext cx="26116478" cy="9364015"/>
          </a:xfrm>
        </p:spPr>
        <p:txBody>
          <a:bodyPr/>
          <a:lstStyle>
            <a:lvl1pPr marL="0" indent="0">
              <a:buNone/>
              <a:defRPr sz="7948">
                <a:solidFill>
                  <a:schemeClr val="tx1"/>
                </a:solidFill>
              </a:defRPr>
            </a:lvl1pPr>
            <a:lvl2pPr marL="1514018" indent="0">
              <a:buNone/>
              <a:defRPr sz="6623">
                <a:solidFill>
                  <a:schemeClr val="tx1">
                    <a:tint val="75000"/>
                  </a:schemeClr>
                </a:solidFill>
              </a:defRPr>
            </a:lvl2pPr>
            <a:lvl3pPr marL="3028036" indent="0">
              <a:buNone/>
              <a:defRPr sz="5961">
                <a:solidFill>
                  <a:schemeClr val="tx1">
                    <a:tint val="75000"/>
                  </a:schemeClr>
                </a:solidFill>
              </a:defRPr>
            </a:lvl3pPr>
            <a:lvl4pPr marL="4542053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4pPr>
            <a:lvl5pPr marL="6056071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5pPr>
            <a:lvl6pPr marL="7570089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6pPr>
            <a:lvl7pPr marL="9084107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7pPr>
            <a:lvl8pPr marL="10598125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8pPr>
            <a:lvl9pPr marL="12112142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122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748" y="11395365"/>
            <a:ext cx="12868989" cy="271606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9238" y="11395365"/>
            <a:ext cx="12868989" cy="271606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30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692" y="2279083"/>
            <a:ext cx="26116478" cy="82740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695" y="10493648"/>
            <a:ext cx="12809847" cy="5142775"/>
          </a:xfrm>
        </p:spPr>
        <p:txBody>
          <a:bodyPr anchor="b"/>
          <a:lstStyle>
            <a:lvl1pPr marL="0" indent="0">
              <a:buNone/>
              <a:defRPr sz="7948" b="1"/>
            </a:lvl1pPr>
            <a:lvl2pPr marL="1514018" indent="0">
              <a:buNone/>
              <a:defRPr sz="6623" b="1"/>
            </a:lvl2pPr>
            <a:lvl3pPr marL="3028036" indent="0">
              <a:buNone/>
              <a:defRPr sz="5961" b="1"/>
            </a:lvl3pPr>
            <a:lvl4pPr marL="4542053" indent="0">
              <a:buNone/>
              <a:defRPr sz="5298" b="1"/>
            </a:lvl4pPr>
            <a:lvl5pPr marL="6056071" indent="0">
              <a:buNone/>
              <a:defRPr sz="5298" b="1"/>
            </a:lvl5pPr>
            <a:lvl6pPr marL="7570089" indent="0">
              <a:buNone/>
              <a:defRPr sz="5298" b="1"/>
            </a:lvl6pPr>
            <a:lvl7pPr marL="9084107" indent="0">
              <a:buNone/>
              <a:defRPr sz="5298" b="1"/>
            </a:lvl7pPr>
            <a:lvl8pPr marL="10598125" indent="0">
              <a:buNone/>
              <a:defRPr sz="5298" b="1"/>
            </a:lvl8pPr>
            <a:lvl9pPr marL="12112142" indent="0">
              <a:buNone/>
              <a:defRPr sz="529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695" y="15636423"/>
            <a:ext cx="12809847" cy="229988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9239" y="10493648"/>
            <a:ext cx="12872933" cy="5142775"/>
          </a:xfrm>
        </p:spPr>
        <p:txBody>
          <a:bodyPr anchor="b"/>
          <a:lstStyle>
            <a:lvl1pPr marL="0" indent="0">
              <a:buNone/>
              <a:defRPr sz="7948" b="1"/>
            </a:lvl1pPr>
            <a:lvl2pPr marL="1514018" indent="0">
              <a:buNone/>
              <a:defRPr sz="6623" b="1"/>
            </a:lvl2pPr>
            <a:lvl3pPr marL="3028036" indent="0">
              <a:buNone/>
              <a:defRPr sz="5961" b="1"/>
            </a:lvl3pPr>
            <a:lvl4pPr marL="4542053" indent="0">
              <a:buNone/>
              <a:defRPr sz="5298" b="1"/>
            </a:lvl4pPr>
            <a:lvl5pPr marL="6056071" indent="0">
              <a:buNone/>
              <a:defRPr sz="5298" b="1"/>
            </a:lvl5pPr>
            <a:lvl6pPr marL="7570089" indent="0">
              <a:buNone/>
              <a:defRPr sz="5298" b="1"/>
            </a:lvl6pPr>
            <a:lvl7pPr marL="9084107" indent="0">
              <a:buNone/>
              <a:defRPr sz="5298" b="1"/>
            </a:lvl7pPr>
            <a:lvl8pPr marL="10598125" indent="0">
              <a:buNone/>
              <a:defRPr sz="5298" b="1"/>
            </a:lvl8pPr>
            <a:lvl9pPr marL="12112142" indent="0">
              <a:buNone/>
              <a:defRPr sz="529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9239" y="15636423"/>
            <a:ext cx="12872933" cy="229988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055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705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248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692" y="2853796"/>
            <a:ext cx="9766080" cy="9988286"/>
          </a:xfrm>
        </p:spPr>
        <p:txBody>
          <a:bodyPr anchor="b"/>
          <a:lstStyle>
            <a:lvl1pPr>
              <a:defRPr sz="10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2933" y="6163416"/>
            <a:ext cx="15329237" cy="30420671"/>
          </a:xfrm>
        </p:spPr>
        <p:txBody>
          <a:bodyPr/>
          <a:lstStyle>
            <a:lvl1pPr>
              <a:defRPr sz="10597"/>
            </a:lvl1pPr>
            <a:lvl2pPr>
              <a:defRPr sz="9272"/>
            </a:lvl2pPr>
            <a:lvl3pPr>
              <a:defRPr sz="7948"/>
            </a:lvl3pPr>
            <a:lvl4pPr>
              <a:defRPr sz="6623"/>
            </a:lvl4pPr>
            <a:lvl5pPr>
              <a:defRPr sz="6623"/>
            </a:lvl5pPr>
            <a:lvl6pPr>
              <a:defRPr sz="6623"/>
            </a:lvl6pPr>
            <a:lvl7pPr>
              <a:defRPr sz="6623"/>
            </a:lvl7pPr>
            <a:lvl8pPr>
              <a:defRPr sz="6623"/>
            </a:lvl8pPr>
            <a:lvl9pPr>
              <a:defRPr sz="662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692" y="12842082"/>
            <a:ext cx="9766080" cy="23791544"/>
          </a:xfrm>
        </p:spPr>
        <p:txBody>
          <a:bodyPr/>
          <a:lstStyle>
            <a:lvl1pPr marL="0" indent="0">
              <a:buNone/>
              <a:defRPr sz="5298"/>
            </a:lvl1pPr>
            <a:lvl2pPr marL="1514018" indent="0">
              <a:buNone/>
              <a:defRPr sz="4636"/>
            </a:lvl2pPr>
            <a:lvl3pPr marL="3028036" indent="0">
              <a:buNone/>
              <a:defRPr sz="3974"/>
            </a:lvl3pPr>
            <a:lvl4pPr marL="4542053" indent="0">
              <a:buNone/>
              <a:defRPr sz="3312"/>
            </a:lvl4pPr>
            <a:lvl5pPr marL="6056071" indent="0">
              <a:buNone/>
              <a:defRPr sz="3312"/>
            </a:lvl5pPr>
            <a:lvl6pPr marL="7570089" indent="0">
              <a:buNone/>
              <a:defRPr sz="3312"/>
            </a:lvl6pPr>
            <a:lvl7pPr marL="9084107" indent="0">
              <a:buNone/>
              <a:defRPr sz="3312"/>
            </a:lvl7pPr>
            <a:lvl8pPr marL="10598125" indent="0">
              <a:buNone/>
              <a:defRPr sz="3312"/>
            </a:lvl8pPr>
            <a:lvl9pPr marL="12112142" indent="0">
              <a:buNone/>
              <a:defRPr sz="331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628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692" y="2853796"/>
            <a:ext cx="9766080" cy="9988286"/>
          </a:xfrm>
        </p:spPr>
        <p:txBody>
          <a:bodyPr anchor="b"/>
          <a:lstStyle>
            <a:lvl1pPr>
              <a:defRPr sz="105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2933" y="6163416"/>
            <a:ext cx="15329237" cy="30420671"/>
          </a:xfrm>
        </p:spPr>
        <p:txBody>
          <a:bodyPr anchor="t"/>
          <a:lstStyle>
            <a:lvl1pPr marL="0" indent="0">
              <a:buNone/>
              <a:defRPr sz="10597"/>
            </a:lvl1pPr>
            <a:lvl2pPr marL="1514018" indent="0">
              <a:buNone/>
              <a:defRPr sz="9272"/>
            </a:lvl2pPr>
            <a:lvl3pPr marL="3028036" indent="0">
              <a:buNone/>
              <a:defRPr sz="7948"/>
            </a:lvl3pPr>
            <a:lvl4pPr marL="4542053" indent="0">
              <a:buNone/>
              <a:defRPr sz="6623"/>
            </a:lvl4pPr>
            <a:lvl5pPr marL="6056071" indent="0">
              <a:buNone/>
              <a:defRPr sz="6623"/>
            </a:lvl5pPr>
            <a:lvl6pPr marL="7570089" indent="0">
              <a:buNone/>
              <a:defRPr sz="6623"/>
            </a:lvl6pPr>
            <a:lvl7pPr marL="9084107" indent="0">
              <a:buNone/>
              <a:defRPr sz="6623"/>
            </a:lvl7pPr>
            <a:lvl8pPr marL="10598125" indent="0">
              <a:buNone/>
              <a:defRPr sz="6623"/>
            </a:lvl8pPr>
            <a:lvl9pPr marL="12112142" indent="0">
              <a:buNone/>
              <a:defRPr sz="66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692" y="12842082"/>
            <a:ext cx="9766080" cy="23791544"/>
          </a:xfrm>
        </p:spPr>
        <p:txBody>
          <a:bodyPr/>
          <a:lstStyle>
            <a:lvl1pPr marL="0" indent="0">
              <a:buNone/>
              <a:defRPr sz="5298"/>
            </a:lvl1pPr>
            <a:lvl2pPr marL="1514018" indent="0">
              <a:buNone/>
              <a:defRPr sz="4636"/>
            </a:lvl2pPr>
            <a:lvl3pPr marL="3028036" indent="0">
              <a:buNone/>
              <a:defRPr sz="3974"/>
            </a:lvl3pPr>
            <a:lvl4pPr marL="4542053" indent="0">
              <a:buNone/>
              <a:defRPr sz="3312"/>
            </a:lvl4pPr>
            <a:lvl5pPr marL="6056071" indent="0">
              <a:buNone/>
              <a:defRPr sz="3312"/>
            </a:lvl5pPr>
            <a:lvl6pPr marL="7570089" indent="0">
              <a:buNone/>
              <a:defRPr sz="3312"/>
            </a:lvl6pPr>
            <a:lvl7pPr marL="9084107" indent="0">
              <a:buNone/>
              <a:defRPr sz="3312"/>
            </a:lvl7pPr>
            <a:lvl8pPr marL="10598125" indent="0">
              <a:buNone/>
              <a:defRPr sz="3312"/>
            </a:lvl8pPr>
            <a:lvl9pPr marL="12112142" indent="0">
              <a:buNone/>
              <a:defRPr sz="331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026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096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9109" y="2279073"/>
            <a:ext cx="6529120" cy="36276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750" y="2279073"/>
            <a:ext cx="19208859" cy="362769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174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749" y="2279083"/>
            <a:ext cx="26116478" cy="8274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749" y="11395365"/>
            <a:ext cx="26116478" cy="27160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748" y="39675699"/>
            <a:ext cx="6812994" cy="2279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ECF60-7224-4166-991F-96BDE9A0D6A2}" type="datetimeFigureOut">
              <a:rPr lang="tr-TR" smtClean="0"/>
              <a:t>11.06.2026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30242" y="39675699"/>
            <a:ext cx="10219492" cy="2279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5233" y="39675699"/>
            <a:ext cx="6812994" cy="2279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3D809-DF2A-4C53-896E-5FA2319506F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079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8036" rtl="0" eaLnBrk="1" latinLnBrk="0" hangingPunct="1">
        <a:lnSpc>
          <a:spcPct val="90000"/>
        </a:lnSpc>
        <a:spcBef>
          <a:spcPct val="0"/>
        </a:spcBef>
        <a:buNone/>
        <a:defRPr sz="145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7009" indent="-757009" algn="l" defTabSz="3028036" rtl="0" eaLnBrk="1" latinLnBrk="0" hangingPunct="1">
        <a:lnSpc>
          <a:spcPct val="90000"/>
        </a:lnSpc>
        <a:spcBef>
          <a:spcPts val="3312"/>
        </a:spcBef>
        <a:buFont typeface="Arial" panose="020B0604020202020204" pitchFamily="34" charset="0"/>
        <a:buChar char="•"/>
        <a:defRPr sz="9272" kern="1200">
          <a:solidFill>
            <a:schemeClr val="tx1"/>
          </a:solidFill>
          <a:latin typeface="+mn-lt"/>
          <a:ea typeface="+mn-ea"/>
          <a:cs typeface="+mn-cs"/>
        </a:defRPr>
      </a:lvl1pPr>
      <a:lvl2pPr marL="2271027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7948" kern="1200">
          <a:solidFill>
            <a:schemeClr val="tx1"/>
          </a:solidFill>
          <a:latin typeface="+mn-lt"/>
          <a:ea typeface="+mn-ea"/>
          <a:cs typeface="+mn-cs"/>
        </a:defRPr>
      </a:lvl2pPr>
      <a:lvl3pPr marL="3785045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6623" kern="1200">
          <a:solidFill>
            <a:schemeClr val="tx1"/>
          </a:solidFill>
          <a:latin typeface="+mn-lt"/>
          <a:ea typeface="+mn-ea"/>
          <a:cs typeface="+mn-cs"/>
        </a:defRPr>
      </a:lvl3pPr>
      <a:lvl4pPr marL="5299062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4pPr>
      <a:lvl5pPr marL="6813080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5pPr>
      <a:lvl6pPr marL="8327098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6pPr>
      <a:lvl7pPr marL="9841116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7pPr>
      <a:lvl8pPr marL="11355134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8pPr>
      <a:lvl9pPr marL="12869151" indent="-757009" algn="l" defTabSz="3028036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1pPr>
      <a:lvl2pPr marL="1514018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2pPr>
      <a:lvl3pPr marL="3028036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3pPr>
      <a:lvl4pPr marL="4542053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4pPr>
      <a:lvl5pPr marL="6056071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5pPr>
      <a:lvl6pPr marL="7570089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6pPr>
      <a:lvl7pPr marL="9084107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7pPr>
      <a:lvl8pPr marL="10598125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8pPr>
      <a:lvl9pPr marL="12112142" algn="l" defTabSz="3028036" rtl="0" eaLnBrk="1" latinLnBrk="0" hangingPunct="1">
        <a:defRPr sz="5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hyperlink" Target="https://www.youtube.com/watch?v=Vs_S_za9acA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ontent Placeholder 14"/>
          <p:cNvSpPr txBox="1">
            <a:spLocks/>
          </p:cNvSpPr>
          <p:nvPr/>
        </p:nvSpPr>
        <p:spPr>
          <a:xfrm>
            <a:off x="20445008" y="5646263"/>
            <a:ext cx="9540000" cy="34200000"/>
          </a:xfrm>
          <a:prstGeom prst="rect">
            <a:avLst/>
          </a:prstGeom>
          <a:solidFill>
            <a:schemeClr val="bg1">
              <a:alpha val="12000"/>
            </a:schemeClr>
          </a:solidFill>
          <a:ln w="88900" cmpd="thickThin">
            <a:solidFill>
              <a:srgbClr val="00077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757009" indent="-757009" algn="l" defTabSz="3028036" rtl="0" eaLnBrk="1" latinLnBrk="0" hangingPunct="1">
              <a:lnSpc>
                <a:spcPct val="90000"/>
              </a:lnSpc>
              <a:spcBef>
                <a:spcPts val="3312"/>
              </a:spcBef>
              <a:buFont typeface="Arial" panose="020B0604020202020204" pitchFamily="34" charset="0"/>
              <a:buChar char="•"/>
              <a:defRPr sz="9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1027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79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5045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66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9062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3080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7098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41116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5134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9151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3" name="Content Placeholder 14"/>
          <p:cNvSpPr txBox="1">
            <a:spLocks/>
          </p:cNvSpPr>
          <p:nvPr/>
        </p:nvSpPr>
        <p:spPr>
          <a:xfrm>
            <a:off x="10477938" y="5562350"/>
            <a:ext cx="9540000" cy="34200000"/>
          </a:xfrm>
          <a:prstGeom prst="rect">
            <a:avLst/>
          </a:prstGeom>
          <a:solidFill>
            <a:schemeClr val="bg1">
              <a:alpha val="12000"/>
            </a:schemeClr>
          </a:solidFill>
          <a:ln w="88900" cmpd="thickThin">
            <a:solidFill>
              <a:srgbClr val="00077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757009" indent="-757009" algn="l" defTabSz="3028036" rtl="0" eaLnBrk="1" latinLnBrk="0" hangingPunct="1">
              <a:lnSpc>
                <a:spcPct val="90000"/>
              </a:lnSpc>
              <a:spcBef>
                <a:spcPts val="3312"/>
              </a:spcBef>
              <a:buFont typeface="Arial" panose="020B0604020202020204" pitchFamily="34" charset="0"/>
              <a:buChar char="•"/>
              <a:defRPr sz="9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1027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79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5045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66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9062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3080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7098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41116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5134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9151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-1" y="-742"/>
            <a:ext cx="30279975" cy="5439075"/>
          </a:xfrm>
          <a:prstGeom prst="rect">
            <a:avLst/>
          </a:prstGeom>
          <a:solidFill>
            <a:srgbClr val="000772"/>
          </a:solidFill>
          <a:ln>
            <a:solidFill>
              <a:srgbClr val="31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Rectangle 39"/>
          <p:cNvSpPr/>
          <p:nvPr/>
        </p:nvSpPr>
        <p:spPr>
          <a:xfrm>
            <a:off x="25888950" y="10211"/>
            <a:ext cx="4285735" cy="40956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13" y="366931"/>
            <a:ext cx="5342688" cy="4833328"/>
          </a:xfrm>
          <a:solidFill>
            <a:srgbClr val="000772"/>
          </a:solidFill>
        </p:spPr>
      </p:pic>
      <p:sp>
        <p:nvSpPr>
          <p:cNvPr id="32" name="Content Placeholder 14"/>
          <p:cNvSpPr txBox="1">
            <a:spLocks/>
          </p:cNvSpPr>
          <p:nvPr/>
        </p:nvSpPr>
        <p:spPr>
          <a:xfrm>
            <a:off x="5317554" y="209863"/>
            <a:ext cx="19764811" cy="5142969"/>
          </a:xfrm>
          <a:prstGeom prst="rect">
            <a:avLst/>
          </a:prstGeom>
          <a:solidFill>
            <a:srgbClr val="000772"/>
          </a:solidFill>
          <a:ln w="57150" cmpd="thickThin">
            <a:solidFill>
              <a:srgbClr val="00077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757009" indent="-757009" algn="l" defTabSz="3028036" rtl="0" eaLnBrk="1" latinLnBrk="0" hangingPunct="1">
              <a:lnSpc>
                <a:spcPct val="90000"/>
              </a:lnSpc>
              <a:spcBef>
                <a:spcPts val="3312"/>
              </a:spcBef>
              <a:buFont typeface="Arial" panose="020B0604020202020204" pitchFamily="34" charset="0"/>
              <a:buChar char="•"/>
              <a:defRPr sz="9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1027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79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5045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66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9062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3080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7098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41116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5134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9151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54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0" indent="0" algn="ctr">
              <a:buNone/>
            </a:pPr>
            <a:r>
              <a:rPr lang="en-US" sz="8800" dirty="0">
                <a:solidFill>
                  <a:schemeClr val="bg1"/>
                </a:solidFill>
                <a:latin typeface="Berlin Sans FB" panose="020E0602020502020306" pitchFamily="34" charset="0"/>
              </a:rPr>
              <a:t>Architectural Construction and Physical Exploitation of Cryptographic Hardware</a:t>
            </a:r>
            <a:r>
              <a:rPr lang="en-US" sz="6600" dirty="0">
                <a:solidFill>
                  <a:schemeClr val="bg1"/>
                </a:solidFill>
                <a:latin typeface="Berlin Sans FB" panose="020E0602020502020306" pitchFamily="34" charset="0"/>
              </a:rPr>
              <a:t> Orhun Boydak</a:t>
            </a:r>
            <a:endParaRPr lang="tr-TR" sz="66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0" indent="0" algn="ctr">
              <a:buNone/>
            </a:pPr>
            <a:endParaRPr lang="tr-TR" sz="66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5888950" y="4229098"/>
            <a:ext cx="42857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Berlin Sans FB" panose="020E0602020502020306" pitchFamily="34" charset="0"/>
              </a:rPr>
              <a:t>2026 / </a:t>
            </a:r>
            <a:endParaRPr lang="tr-TR" sz="4800" dirty="0">
              <a:latin typeface="Berlin Sans FB" panose="020E0602020502020306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336488" y="40007664"/>
            <a:ext cx="9540000" cy="2700000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Berlin Sans FB" panose="020E0602020502020306" pitchFamily="34" charset="0"/>
              </a:rPr>
              <a:t>Funding Information</a:t>
            </a:r>
          </a:p>
          <a:p>
            <a:pPr algn="ctr"/>
            <a:endParaRPr lang="en-US" sz="44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algn="ctr"/>
            <a:endParaRPr lang="tr-TR" sz="4400" dirty="0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10476563" y="39998540"/>
            <a:ext cx="9540000" cy="2700000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Berlin Sans FB" panose="020E0602020502020306" pitchFamily="34" charset="0"/>
              </a:rPr>
              <a:t>Acknowledgments</a:t>
            </a:r>
          </a:p>
          <a:p>
            <a:pPr algn="ctr"/>
            <a:endParaRPr lang="en-US" sz="4400" dirty="0"/>
          </a:p>
          <a:p>
            <a:pPr algn="ctr"/>
            <a:endParaRPr lang="tr-TR" sz="4400" dirty="0"/>
          </a:p>
        </p:txBody>
      </p:sp>
      <p:sp>
        <p:nvSpPr>
          <p:cNvPr id="49" name="Content Placeholder 14"/>
          <p:cNvSpPr txBox="1">
            <a:spLocks/>
          </p:cNvSpPr>
          <p:nvPr/>
        </p:nvSpPr>
        <p:spPr>
          <a:xfrm>
            <a:off x="298388" y="5631620"/>
            <a:ext cx="9540000" cy="34200000"/>
          </a:xfrm>
          <a:prstGeom prst="rect">
            <a:avLst/>
          </a:prstGeom>
          <a:solidFill>
            <a:schemeClr val="bg1">
              <a:alpha val="12000"/>
            </a:schemeClr>
          </a:solidFill>
          <a:ln w="88900" cmpd="thickThin">
            <a:solidFill>
              <a:srgbClr val="00077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757009" indent="-757009" algn="l" defTabSz="3028036" rtl="0" eaLnBrk="1" latinLnBrk="0" hangingPunct="1">
              <a:lnSpc>
                <a:spcPct val="90000"/>
              </a:lnSpc>
              <a:spcBef>
                <a:spcPts val="3312"/>
              </a:spcBef>
              <a:buFont typeface="Arial" panose="020B0604020202020204" pitchFamily="34" charset="0"/>
              <a:buChar char="•"/>
              <a:defRPr sz="9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1027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79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5045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66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9062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3080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7098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41116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5134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9151" indent="-757009" algn="l" defTabSz="3028036" rtl="0" eaLnBrk="1" latinLnBrk="0" hangingPunct="1">
              <a:lnSpc>
                <a:spcPct val="90000"/>
              </a:lnSpc>
              <a:spcBef>
                <a:spcPts val="1656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20435189" y="40010122"/>
            <a:ext cx="9540000" cy="2700000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Berlin Sans FB" panose="020E0602020502020306" pitchFamily="34" charset="0"/>
              </a:rPr>
              <a:t>Sponsors</a:t>
            </a:r>
          </a:p>
          <a:p>
            <a:pPr algn="ctr"/>
            <a:endParaRPr lang="en-US" sz="44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algn="ctr"/>
            <a:endParaRPr lang="tr-TR" sz="4400" dirty="0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410011" y="5777647"/>
            <a:ext cx="9316754" cy="1313681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defTabSz="4703763">
              <a:defRPr/>
            </a:pPr>
            <a:r>
              <a:rPr lang="tr-TR" sz="4400" b="1" cap="small" dirty="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10589561" y="5777646"/>
            <a:ext cx="9316754" cy="1313681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defTabSz="4703763">
              <a:defRPr/>
            </a:pPr>
            <a:r>
              <a:rPr lang="en-US" sz="4400" b="1" cap="small" dirty="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rPr>
              <a:t>Methodology</a:t>
            </a:r>
            <a:endParaRPr lang="tr-TR" sz="4400" b="1" cap="small" dirty="0">
              <a:solidFill>
                <a:schemeClr val="bg1"/>
              </a:solidFill>
              <a:latin typeface="Berlin Sans FB" panose="020E06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20576309" y="26083468"/>
            <a:ext cx="9316754" cy="1313681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defTabSz="4703763">
              <a:defRPr/>
            </a:pPr>
            <a:r>
              <a:rPr lang="en-US" sz="4400" b="1" cap="small" dirty="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rPr>
              <a:t>Conclusion</a:t>
            </a:r>
            <a:endParaRPr lang="tr-TR" sz="4400" b="1" cap="small" dirty="0">
              <a:solidFill>
                <a:schemeClr val="bg1"/>
              </a:solidFill>
              <a:latin typeface="Berlin Sans FB" panose="020E06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410011" y="16869524"/>
            <a:ext cx="9316754" cy="1313681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defTabSz="4703763">
              <a:defRPr/>
            </a:pPr>
            <a:r>
              <a:rPr lang="en-US" sz="4400" b="1" cap="small" dirty="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rPr>
              <a:t>Background</a:t>
            </a:r>
            <a:endParaRPr lang="tr-TR" sz="4400" b="1" cap="small" dirty="0">
              <a:solidFill>
                <a:schemeClr val="bg1"/>
              </a:solidFill>
              <a:latin typeface="Berlin Sans FB" panose="020E06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20576309" y="33026912"/>
            <a:ext cx="9316754" cy="1313681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defTabSz="4703763">
              <a:defRPr/>
            </a:pPr>
            <a:r>
              <a:rPr lang="en-US" sz="4400" b="1" cap="small" dirty="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rPr>
              <a:t>Future Work</a:t>
            </a:r>
            <a:endParaRPr lang="tr-TR" sz="4400" b="1" cap="small" dirty="0">
              <a:solidFill>
                <a:schemeClr val="bg1"/>
              </a:solidFill>
              <a:latin typeface="Berlin Sans FB" panose="020E06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8063593-411A-4C80-8100-EEACD81AB800}"/>
              </a:ext>
            </a:extLst>
          </p:cNvPr>
          <p:cNvSpPr/>
          <p:nvPr/>
        </p:nvSpPr>
        <p:spPr>
          <a:xfrm>
            <a:off x="20648003" y="5772657"/>
            <a:ext cx="9316754" cy="1313681"/>
          </a:xfrm>
          <a:prstGeom prst="roundRect">
            <a:avLst/>
          </a:prstGeom>
          <a:solidFill>
            <a:srgbClr val="000772"/>
          </a:solidFill>
          <a:ln>
            <a:noFill/>
          </a:ln>
          <a:effectLst>
            <a:softEdge rad="0"/>
          </a:effectLst>
        </p:spPr>
        <p:txBody>
          <a:bodyPr wrap="none" lIns="137160" tIns="68580" rIns="137160" bIns="6858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defTabSz="4703763">
              <a:defRPr/>
            </a:pPr>
            <a:r>
              <a:rPr lang="en-US" sz="4400" b="1" cap="small" dirty="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rPr>
              <a:t>Results and Dıscussıon</a:t>
            </a:r>
            <a:endParaRPr lang="tr-TR" sz="4400" b="1" cap="small" dirty="0">
              <a:solidFill>
                <a:schemeClr val="bg1"/>
              </a:solidFill>
              <a:latin typeface="Berlin Sans FB" panose="020E06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48111" y="7237355"/>
            <a:ext cx="9316754" cy="1003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lang="en-US" sz="3600">
                <a:latin typeface="Arial"/>
              </a:defRPr>
            </a:pP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This year-long project investigates the dual nature of hardware security: architectural construction and physical exploitation. In Phase 1, cryptographic primitives were implemented in VHDL: an LFSR-based Shrinking Generator stream cipher, 16/32-bit RSA engines using Montgomery Multiplication, and Elliptic Curve Cryptography (ECC) foundations over prime fields GF(p). In Phase 2, these architectures were attacked. A simulated Correlation Power Analysis (CPA) recovered the full 16-bit RSA private key in 50 traces (|r| ≈ 0.98), while failing against 32-bit due to algorithmic noise. A physical Simple Power Analysis (SPA) on a real Altera DE2-115 FPGA then recovered key segments from a single noisy oscilloscope trace — proving that mathematically correct hardware is not physically secure without countermeasures.</a:t>
            </a:r>
            <a:endParaRPr lang="tr-TR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0011" y="18621518"/>
            <a:ext cx="9316754" cy="1449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lang="en-US" sz="3600">
                <a:latin typeface="Arial"/>
              </a:defRPr>
            </a:pP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Cryptographic security relies on two pillars: the mathematical algorithm and its physical hardware execution.</a:t>
            </a:r>
          </a:p>
          <a:p>
            <a:pPr>
              <a:defRPr lang="en-US" sz="3600">
                <a:latin typeface="Arial"/>
              </a:defRPr>
            </a:pPr>
            <a:endParaRPr sz="3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Stream &amp; Public-Key Ciphers: 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LFSRs generate pseudo-random sequences efficiently but are broken by the Berlekamp-Massey algorithm using only 2N output bits. The Shrinking Generator introduces non-linearity via irregular decimation, achieving a combined period of ~2¹²⁷ clock cycles. RSA relies on modular exponentiation (C = Mᵉ mod N) using the Square-and-Multiply algorithm and Montgomery Multiplication to eliminate hardware-prohibitive integer division.</a:t>
            </a:r>
          </a:p>
          <a:p>
            <a:pPr>
              <a:defRPr lang="en-US" sz="3600">
                <a:latin typeface="Arial"/>
              </a:defRPr>
            </a:pPr>
            <a:endParaRPr sz="3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Side-Channel Leakage: 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In standard CMOS, dynamic power P = α·C·V²·f is proportional to switching activity α — which depends directly on processed data. The Hamming Distance HD(V₀, V₁) = HW(V₀ XOR V₁) models register power leakage per clock cycle, enabling statistical key extraction without breaking the underlying mathematics.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33499" y="27793054"/>
            <a:ext cx="93167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lang="en-US" sz="3600">
                <a:latin typeface="Arial"/>
              </a:defRPr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study definitively proves that implementing mathematically robust cryptography (like RSA and ECC) in hardware is insufficient for security. Standard architectural optimizations, such as naive Square-and-Multiply algorithms, embed control-flow timing vulnerabilities directly into the silicon. These flaws render wide-data path architectures completely defenseless against deterministic physical SPA attacks, even in highly uncalibrated, noisy environments.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46505" y="34344831"/>
            <a:ext cx="93167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lang="en-US" sz="3600">
                <a:latin typeface="Arial"/>
              </a:defRPr>
            </a:pP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secure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modern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hardware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against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timing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vulnerabilities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demonstrated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mandate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-time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paths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Replacing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 Montgomery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Ladder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ensures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regardless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bits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Additionally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implementing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rigorous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Hardware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Masking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multiplicative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) is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essential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mathematically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decouple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consumption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secret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data.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33499" y="7069705"/>
            <a:ext cx="931675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lang="en-US" sz="3600">
                <a:latin typeface="Arial"/>
              </a:defRPr>
            </a:pPr>
            <a:r>
              <a:rPr sz="3000" b="1" dirty="0">
                <a:latin typeface="Arial" panose="020B0604020202020204" pitchFamily="34" charset="0"/>
                <a:cs typeface="Arial" panose="020B0604020202020204" pitchFamily="34" charset="0"/>
              </a:rPr>
              <a:t>Simulated CPA vs. Algorithmic Noise: </a:t>
            </a:r>
            <a:r>
              <a:rPr sz="3000" b="0" dirty="0">
                <a:latin typeface="Arial" panose="020B0604020202020204" pitchFamily="34" charset="0"/>
                <a:cs typeface="Arial" panose="020B0604020202020204" pitchFamily="34" charset="0"/>
              </a:rPr>
              <a:t>Simulated attacks using the Pearson Correlation Coefficient successfully extracted the full 16-bit RSA private key using only 50 simulation traces, achieving a peak correlation of |r| ≈ 0.98 at the exact Montgomery register update cycle.</a:t>
            </a:r>
            <a:endParaRPr lang="tr-T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lang="en-US" sz="3600">
                <a:latin typeface="Arial"/>
              </a:defRPr>
            </a:pPr>
            <a:endParaRPr lang="tr-T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lang="en-US" sz="3600">
                <a:latin typeface="Arial"/>
              </a:defRPr>
            </a:pPr>
            <a:r>
              <a:rPr sz="3000" b="1" dirty="0">
                <a:latin typeface="Arial" panose="020B0604020202020204" pitchFamily="34" charset="0"/>
                <a:cs typeface="Arial" panose="020B0604020202020204" pitchFamily="34" charset="0"/>
              </a:rPr>
              <a:t>32-bit CPA Failure: </a:t>
            </a:r>
            <a:r>
              <a:rPr sz="3000" b="0" dirty="0">
                <a:latin typeface="Arial" panose="020B0604020202020204" pitchFamily="34" charset="0"/>
                <a:cs typeface="Arial" panose="020B0604020202020204" pitchFamily="34" charset="0"/>
              </a:rPr>
              <a:t>Applying the same attack to the 32-bit architecture dropped the peak correlation to |r| ≈ 0.25 — below the extraction threshold. The 31 additional uncorrelated bits transitioning each cycle constitute algorithmic noise, requiring ~4x more traces to overcome.</a:t>
            </a:r>
            <a:endParaRPr lang="tr-T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603149" y="7284365"/>
            <a:ext cx="9316754" cy="16158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lang="en-US" sz="3600">
                <a:latin typeface="Arial"/>
              </a:defRPr>
            </a:pP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To physically exploit the RSA Square-and-Multiply architecture, a deterministic Simple Power Analysis (SPA) timing attack was mounted against an Altera DE2-115 FPGA.</a:t>
            </a:r>
          </a:p>
          <a:p>
            <a:pPr algn="just">
              <a:defRPr lang="en-US" sz="3600">
                <a:latin typeface="Arial"/>
              </a:defRPr>
            </a:pPr>
            <a:endParaRPr sz="3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Hardware Instrumentation Setup: 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The FPGA's PLL was reprogrammed to 2 MHz (from 50 MHz) to make each Montgomery operation last ~8 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μs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 — measurable on a standard oscilloscope. A 0.5 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 shunt resistor was placed in series on the low-side power supply. By Ohm's Law (V = I × R), the voltage drop directly reflects instantaneous current draw.</a:t>
            </a:r>
          </a:p>
          <a:p>
            <a:pPr algn="just">
              <a:defRPr lang="en-US" sz="3600">
                <a:latin typeface="Arial"/>
              </a:defRPr>
            </a:pPr>
            <a:endParaRPr sz="3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Blind Signal Processing Pipeline: 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A custom Python engine extracts the key without prior knowledge:</a:t>
            </a:r>
          </a:p>
          <a:p>
            <a:pPr algn="just"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Noise Filtering: 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A moving-average filter smoothed environmental white noise from raw CSV oscilloscope data.</a:t>
            </a:r>
          </a:p>
          <a:p>
            <a:pPr algn="just"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Peak Detection: 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scipy.signal.find_peaks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 identified peaks corresponding to Montgomery operation boundaries.</a:t>
            </a:r>
          </a:p>
          <a:p>
            <a:pPr algn="just">
              <a:defRPr lang="en-US" sz="3600">
                <a:latin typeface="Arial"/>
              </a:defRPr>
            </a:pP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Dynamic Thresholding: 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Inter-peak distances (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Δt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) were measured. The statistical mean of all 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Δt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 values served as the adaptive separator: short 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Δt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 → '0' bit (Square only); long </a:t>
            </a:r>
            <a:r>
              <a:rPr sz="3600" b="0" dirty="0" err="1">
                <a:latin typeface="Arial" panose="020B0604020202020204" pitchFamily="34" charset="0"/>
                <a:cs typeface="Arial" panose="020B0604020202020204" pitchFamily="34" charset="0"/>
              </a:rPr>
              <a:t>Δt</a:t>
            </a:r>
            <a:r>
              <a:rPr sz="3600" b="0" dirty="0">
                <a:latin typeface="Arial" panose="020B0604020202020204" pitchFamily="34" charset="0"/>
                <a:cs typeface="Arial" panose="020B0604020202020204" pitchFamily="34" charset="0"/>
              </a:rPr>
              <a:t> → '1' bit (Square + Multiply).</a:t>
            </a:r>
          </a:p>
        </p:txBody>
      </p:sp>
      <p:pic>
        <p:nvPicPr>
          <p:cNvPr id="3" name="Picture 2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721" y="-12539"/>
            <a:ext cx="4286250" cy="4286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2714A9-0CCD-B860-F124-6945179892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08" y="33602404"/>
            <a:ext cx="9269285" cy="2835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D91719-501B-10E8-8A43-9FA282FA6206}"/>
              </a:ext>
            </a:extLst>
          </p:cNvPr>
          <p:cNvSpPr txBox="1"/>
          <p:nvPr/>
        </p:nvSpPr>
        <p:spPr>
          <a:xfrm>
            <a:off x="291958" y="36682139"/>
            <a:ext cx="952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en-US" sz="3000">
                <a:latin typeface="Arial"/>
              </a:defRPr>
            </a:pPr>
            <a:r>
              <a:rPr lang="en-US" sz="3000" b="0" i="1" dirty="0">
                <a:solidFill>
                  <a:srgbClr val="3B3B3B"/>
                </a:solidFill>
                <a:effectLst/>
                <a:latin typeface="Arial"/>
              </a:rPr>
              <a:t>Figure 1: ECC Point Doubling (2P = P+P) — tangent line intersection geometry used in ECC scalar multiplication.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54B1D8-4DFC-D8BC-D385-FD6BF04766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181" y="23642625"/>
            <a:ext cx="6418232" cy="4101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FBF253-FFFA-9AA1-2956-9C3ED39AE8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3787" y="29790979"/>
            <a:ext cx="7772400" cy="42590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49938A-629B-6DCD-24C6-19FEEA655810}"/>
              </a:ext>
            </a:extLst>
          </p:cNvPr>
          <p:cNvSpPr txBox="1"/>
          <p:nvPr/>
        </p:nvSpPr>
        <p:spPr>
          <a:xfrm>
            <a:off x="20574000" y="21684572"/>
            <a:ext cx="91474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lang="en-US" sz="3600">
                <a:latin typeface="Arial"/>
              </a:defRPr>
            </a:pPr>
            <a:r>
              <a:rPr sz="3000" b="1" dirty="0">
                <a:latin typeface="Arial"/>
              </a:rPr>
              <a:t>Physical Blind SPA Success: </a:t>
            </a:r>
            <a:r>
              <a:rPr sz="3000" dirty="0">
                <a:latin typeface="Arial"/>
              </a:rPr>
              <a:t>The SPA attack exploited timing differences in Square-and-Multiply: '1' bits produce SQUARE+MULTIPLY (long burst); '0' bits produce SQUARE only (short burst).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3000" b="1" dirty="0">
                <a:latin typeface="Arial"/>
              </a:rPr>
              <a:t>Results: </a:t>
            </a:r>
            <a:r>
              <a:rPr sz="3000" dirty="0">
                <a:latin typeface="Arial"/>
              </a:rPr>
              <a:t>scope_0.csv → 13 peaks → 12-bit key: 010101010110. scope_2.csv → 22 peaks → 20-bit key: 00000000011010000110. Single trace, zero prior knowledge.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55286" y="28033353"/>
            <a:ext cx="8412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i="1" dirty="0">
                <a:solidFill>
                  <a:srgbClr val="444444"/>
                </a:solidFill>
                <a:latin typeface="Arial"/>
              </a:rPr>
              <a:t>Figure 2: Altera DE2-115 FPGA instrumented with 0.5 </a:t>
            </a:r>
            <a:r>
              <a:rPr sz="3000" i="1" dirty="0" err="1">
                <a:solidFill>
                  <a:srgbClr val="444444"/>
                </a:solidFill>
                <a:latin typeface="Arial"/>
              </a:rPr>
              <a:t>Ω</a:t>
            </a:r>
            <a:r>
              <a:rPr sz="3000" i="1" dirty="0">
                <a:solidFill>
                  <a:srgbClr val="444444"/>
                </a:solidFill>
                <a:latin typeface="Arial"/>
              </a:rPr>
              <a:t> low-side shunt resistor for power measurement.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47832" y="33940593"/>
            <a:ext cx="91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i="1" dirty="0">
                <a:solidFill>
                  <a:srgbClr val="444444"/>
                </a:solidFill>
                <a:latin typeface="Arial"/>
              </a:rPr>
              <a:t>Figure 3: CPA Pearson correlation for 16-bit RSA Bit 0. Correct key (red) peaks at |r| ≈ 0.98 with 50 traces.</a:t>
            </a:r>
          </a:p>
        </p:txBody>
      </p:sp>
      <p:pic>
        <p:nvPicPr>
          <p:cNvPr id="69" name="Picture 68" descr="LFSR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5611" y="35756894"/>
            <a:ext cx="8961120" cy="129457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958783" y="37233299"/>
            <a:ext cx="89611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i="1" dirty="0">
                <a:solidFill>
                  <a:srgbClr val="444444"/>
                </a:solidFill>
                <a:latin typeface="Arial"/>
              </a:rPr>
              <a:t>Figure 4: GHDL simulation — Shrinking Generator. Irregular </a:t>
            </a:r>
            <a:r>
              <a:rPr sz="3000" i="1" dirty="0" err="1">
                <a:solidFill>
                  <a:srgbClr val="444444"/>
                </a:solidFill>
                <a:latin typeface="Arial"/>
              </a:rPr>
              <a:t>valid_out</a:t>
            </a:r>
            <a:r>
              <a:rPr sz="3000" i="1" dirty="0">
                <a:solidFill>
                  <a:srgbClr val="444444"/>
                </a:solidFill>
                <a:latin typeface="Arial"/>
              </a:rPr>
              <a:t> pulses confirm non-linear output.</a:t>
            </a:r>
          </a:p>
        </p:txBody>
      </p:sp>
      <p:pic>
        <p:nvPicPr>
          <p:cNvPr id="71" name="Picture 70" descr="blind_tra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66666" y="13034474"/>
            <a:ext cx="7420236" cy="296809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0734448" y="16185879"/>
            <a:ext cx="89611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i="1" dirty="0">
                <a:solidFill>
                  <a:srgbClr val="444444"/>
                </a:solidFill>
                <a:latin typeface="Arial"/>
              </a:rPr>
              <a:t>Figure 5: Blind SPA — smoothed FPGA power trace. Red X markers identify Montgomery operation peaks.</a:t>
            </a:r>
          </a:p>
        </p:txBody>
      </p:sp>
      <p:pic>
        <p:nvPicPr>
          <p:cNvPr id="73" name="Picture 72" descr="scope_2_interval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74000" y="16971390"/>
            <a:ext cx="8961120" cy="358444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0821522" y="20629719"/>
            <a:ext cx="89611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i="1" dirty="0">
                <a:solidFill>
                  <a:srgbClr val="444444"/>
                </a:solidFill>
                <a:latin typeface="Arial"/>
              </a:rPr>
              <a:t>Figure 6: Inter-peak interval analysis — scope_2.csv. Dynamic 0.23 </a:t>
            </a:r>
            <a:r>
              <a:rPr sz="2500" i="1" dirty="0" err="1">
                <a:solidFill>
                  <a:srgbClr val="444444"/>
                </a:solidFill>
                <a:latin typeface="Arial"/>
              </a:rPr>
              <a:t>μs</a:t>
            </a:r>
            <a:r>
              <a:rPr sz="2500" i="1" dirty="0">
                <a:solidFill>
                  <a:srgbClr val="444444"/>
                </a:solidFill>
                <a:latin typeface="Arial"/>
              </a:rPr>
              <a:t> threshold separates '0'/'1' key bits.</a:t>
            </a:r>
          </a:p>
        </p:txBody>
      </p:sp>
    </p:spTree>
    <p:extLst>
      <p:ext uri="{BB962C8B-B14F-4D97-AF65-F5344CB8AC3E}">
        <p14:creationId xmlns:p14="http://schemas.microsoft.com/office/powerpoint/2010/main" val="723040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</TotalTime>
  <Words>931</Words>
  <Application>Microsoft Macintosh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Berlin Sans FB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sddgfsg</dc:title>
  <dc:creator>SULTAN CAN</dc:creator>
  <cp:lastModifiedBy>orhun boydak</cp:lastModifiedBy>
  <cp:revision>33</cp:revision>
  <dcterms:created xsi:type="dcterms:W3CDTF">2024-12-19T13:41:01Z</dcterms:created>
  <dcterms:modified xsi:type="dcterms:W3CDTF">2026-06-11T14:14:50Z</dcterms:modified>
</cp:coreProperties>
</file>